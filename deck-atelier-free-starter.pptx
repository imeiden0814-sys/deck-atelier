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61" r:id="rId12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19456" y="-201167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-274320"/>
            <a:ext cx="960120" cy="9601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97864" y="-36575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-109728"/>
            <a:ext cx="1188720" cy="11887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15184" y="-201167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-274320"/>
            <a:ext cx="1417320" cy="14173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32504" y="-36575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40" y="-109728"/>
            <a:ext cx="960120" cy="9601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49824" y="-201167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-274320"/>
            <a:ext cx="1188720" cy="11887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67144" y="-36575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12280" y="-109728"/>
            <a:ext cx="1417320" cy="14173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-201167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-274320"/>
            <a:ext cx="960120" cy="9601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01784" y="-36575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919" y="-109728"/>
            <a:ext cx="1188720" cy="11887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19104" y="-201167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64240" y="-274320"/>
            <a:ext cx="1417320" cy="14173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" y="128016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-45719" y="1207008"/>
            <a:ext cx="1188720" cy="11887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426464" y="1444752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1371600"/>
            <a:ext cx="1417320" cy="14173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43784" y="128016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8920" y="1207008"/>
            <a:ext cx="960120" cy="9601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61104" y="1444752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1371600"/>
            <a:ext cx="1188720" cy="11887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78424" y="1280160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23560" y="1207008"/>
            <a:ext cx="1417320" cy="14173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95744" y="1444752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40880" y="1371600"/>
            <a:ext cx="960120" cy="9601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13064" y="128016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58200" y="1207008"/>
            <a:ext cx="1188720" cy="11887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30384" y="1444752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75519" y="1371600"/>
            <a:ext cx="1417320" cy="14173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347704" y="128016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292840" y="1207008"/>
            <a:ext cx="960120" cy="9601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-219456" y="276148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-274320" y="2688336"/>
            <a:ext cx="1417320" cy="14173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97864" y="292608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43000" y="2852928"/>
            <a:ext cx="960120" cy="9601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615184" y="276148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560320" y="2688336"/>
            <a:ext cx="1188720" cy="11887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032504" y="2926080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977640" y="2852928"/>
            <a:ext cx="1417320" cy="14173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49824" y="2761488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94960" y="2688336"/>
            <a:ext cx="960120" cy="9601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67144" y="292608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12280" y="2852928"/>
            <a:ext cx="1188720" cy="11887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84464" y="276148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0" y="2688336"/>
            <a:ext cx="1417320" cy="14173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01784" y="292608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46919" y="2852928"/>
            <a:ext cx="960120" cy="9601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119104" y="276148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1064240" y="2688336"/>
            <a:ext cx="1188720" cy="11887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" y="424281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-45719" y="4169664"/>
            <a:ext cx="960120" cy="9601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426464" y="440740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371600" y="4334256"/>
            <a:ext cx="1188720" cy="11887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843784" y="424281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788920" y="4169664"/>
            <a:ext cx="1417320" cy="14173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261104" y="4407408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206240" y="4334256"/>
            <a:ext cx="960120" cy="9601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678424" y="4242816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623560" y="4169664"/>
            <a:ext cx="1188720" cy="11887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95744" y="440740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040880" y="4334256"/>
            <a:ext cx="1417320" cy="14173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513064" y="424281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58200" y="4169664"/>
            <a:ext cx="960120" cy="9601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30384" y="440740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875519" y="4334256"/>
            <a:ext cx="1188720" cy="11887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1347704" y="424281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292840" y="4169664"/>
            <a:ext cx="1417320" cy="14173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-219456" y="5724144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-274320" y="5650992"/>
            <a:ext cx="1188720" cy="11887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197864" y="588873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143000" y="5815584"/>
            <a:ext cx="1417320" cy="14173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615184" y="5724144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560320" y="5650992"/>
            <a:ext cx="960120" cy="9601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032504" y="5888736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977640" y="5815584"/>
            <a:ext cx="1188720" cy="11887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49824" y="5724144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394960" y="5650992"/>
            <a:ext cx="1417320" cy="14173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867144" y="588873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812280" y="5815584"/>
            <a:ext cx="960120" cy="9601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284464" y="5724144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229600" y="5650992"/>
            <a:ext cx="1188720" cy="11887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701784" y="588873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646919" y="5815584"/>
            <a:ext cx="1417320" cy="14173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119104" y="5724144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064240" y="5650992"/>
            <a:ext cx="960120" cy="9601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7240" y="22860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游ゴシック"/>
                <a:ea typeface="游ゴシック"/>
              </a:rPr>
              <a:t>AI時代の提案・ピッチ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游ゴシック"/>
                <a:ea typeface="游ゴシック"/>
              </a:rPr>
              <a:t>プレミアムデッキ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" y="35844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D7DCE8"/>
                </a:solidFill>
                <a:latin typeface="游ゴシック"/>
                <a:ea typeface="游ゴシック"/>
              </a:rPr>
              <a:t>そのまま使える20の型 ／ 差し替えるだけで整う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" y="5212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9D0DE"/>
                </a:solidFill>
                <a:latin typeface="游ゴシック"/>
                <a:ea typeface="游ゴシック"/>
              </a:rPr>
              <a:t>2026 ／ Premium Deck Template</a:t>
            </a:r>
          </a:p>
        </p:txBody>
      </p:sp>
      <p:sp>
        <p:nvSpPr>
          <p:cNvPr id="97" name="Parallelogram 96"/>
          <p:cNvSpPr/>
          <p:nvPr/>
        </p:nvSpPr>
        <p:spPr>
          <a:xfrm>
            <a:off x="822960" y="571500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arallelogram 97"/>
          <p:cNvSpPr/>
          <p:nvPr/>
        </p:nvSpPr>
        <p:spPr>
          <a:xfrm>
            <a:off x="951707" y="571500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07008" y="570585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游ゴシック"/>
                <a:ea typeface="游ゴシック"/>
              </a:rPr>
              <a:t>Premium Deck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このテンプレートに入っている型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7"/>
                </a:solidFill>
                <a:latin typeface="游ゴシック"/>
                <a:ea typeface="游ゴシック"/>
              </a:rPr>
              <a:t>1スライド1メッセージ・絵文字ゼロ・1アクセント規律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FB4B4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476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表紙 / セクション扉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441448"/>
            <a:ext cx="9601200" cy="0"/>
          </a:xfrm>
          <a:prstGeom prst="line">
            <a:avLst/>
          </a:prstGeom>
          <a:ln w="1270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25679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FB4B4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4109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3カード・アイコン型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3134868"/>
            <a:ext cx="9601200" cy="0"/>
          </a:xfrm>
          <a:prstGeom prst="line">
            <a:avLst/>
          </a:prstGeom>
          <a:ln w="1270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261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FB4B4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3451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比較 / 対比カード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3828288"/>
            <a:ext cx="9601200" cy="0"/>
          </a:xfrm>
          <a:prstGeom prst="line">
            <a:avLst/>
          </a:prstGeom>
          <a:ln w="1270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954779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FB4B4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27931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KPI / 大数字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4521707"/>
            <a:ext cx="9601200" cy="0"/>
          </a:xfrm>
          <a:prstGeom prst="line">
            <a:avLst/>
          </a:prstGeom>
          <a:ln w="1270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46482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FB4B4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2135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ロードマップ / ステップ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28800" y="5215128"/>
            <a:ext cx="9601200" cy="0"/>
          </a:xfrm>
          <a:prstGeom prst="line">
            <a:avLst/>
          </a:prstGeom>
          <a:ln w="1270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3416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FB4B4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41477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引用 / クロージング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28800" y="5908548"/>
            <a:ext cx="9601200" cy="0"/>
          </a:xfrm>
          <a:prstGeom prst="line">
            <a:avLst/>
          </a:prstGeom>
          <a:ln w="1270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19456" y="-201167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-274320"/>
            <a:ext cx="960120" cy="9601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97864" y="-36575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-109728"/>
            <a:ext cx="1188720" cy="11887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15184" y="-201167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-274320"/>
            <a:ext cx="1417320" cy="14173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32504" y="-36575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40" y="-109728"/>
            <a:ext cx="960120" cy="9601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49824" y="-201167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-274320"/>
            <a:ext cx="1188720" cy="11887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67144" y="-36575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12280" y="-109728"/>
            <a:ext cx="1417320" cy="14173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-201167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-274320"/>
            <a:ext cx="960120" cy="9601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01784" y="-36575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919" y="-109728"/>
            <a:ext cx="1188720" cy="11887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19104" y="-201167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64240" y="-274320"/>
            <a:ext cx="1417320" cy="14173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" y="128016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-45719" y="1207008"/>
            <a:ext cx="1188720" cy="11887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426464" y="1444752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1371600"/>
            <a:ext cx="1417320" cy="14173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43784" y="128016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8920" y="1207008"/>
            <a:ext cx="960120" cy="9601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61104" y="1444752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1371600"/>
            <a:ext cx="1188720" cy="11887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78424" y="1280160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23560" y="1207008"/>
            <a:ext cx="1417320" cy="14173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95744" y="1444752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40880" y="1371600"/>
            <a:ext cx="960120" cy="9601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13064" y="128016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58200" y="1207008"/>
            <a:ext cx="1188720" cy="11887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30384" y="1444752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75519" y="1371600"/>
            <a:ext cx="1417320" cy="14173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347704" y="128016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292840" y="1207008"/>
            <a:ext cx="960120" cy="9601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-219456" y="276148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-274320" y="2688336"/>
            <a:ext cx="1417320" cy="14173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97864" y="292608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43000" y="2852928"/>
            <a:ext cx="960120" cy="9601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615184" y="276148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560320" y="2688336"/>
            <a:ext cx="1188720" cy="11887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032504" y="2926080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977640" y="2852928"/>
            <a:ext cx="1417320" cy="14173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49824" y="2761488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94960" y="2688336"/>
            <a:ext cx="960120" cy="9601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67144" y="292608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12280" y="2852928"/>
            <a:ext cx="1188720" cy="11887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84464" y="276148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0" y="2688336"/>
            <a:ext cx="1417320" cy="14173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01784" y="292608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46919" y="2852928"/>
            <a:ext cx="960120" cy="9601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119104" y="276148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1064240" y="2688336"/>
            <a:ext cx="1188720" cy="11887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" y="424281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-45719" y="4169664"/>
            <a:ext cx="960120" cy="9601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426464" y="440740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371600" y="4334256"/>
            <a:ext cx="1188720" cy="11887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843784" y="424281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788920" y="4169664"/>
            <a:ext cx="1417320" cy="14173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261104" y="4407408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206240" y="4334256"/>
            <a:ext cx="960120" cy="9601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678424" y="4242816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623560" y="4169664"/>
            <a:ext cx="1188720" cy="11887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95744" y="440740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040880" y="4334256"/>
            <a:ext cx="1417320" cy="14173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513064" y="424281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58200" y="4169664"/>
            <a:ext cx="960120" cy="9601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30384" y="440740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875519" y="4334256"/>
            <a:ext cx="1188720" cy="11887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1347704" y="424281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292840" y="4169664"/>
            <a:ext cx="1417320" cy="14173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-219456" y="5724144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-274320" y="5650992"/>
            <a:ext cx="1188720" cy="11887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197864" y="588873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143000" y="5815584"/>
            <a:ext cx="1417320" cy="14173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615184" y="5724144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560320" y="5650992"/>
            <a:ext cx="960120" cy="9601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032504" y="5888736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977640" y="5815584"/>
            <a:ext cx="1188720" cy="11887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49824" y="5724144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394960" y="5650992"/>
            <a:ext cx="1417320" cy="14173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867144" y="588873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812280" y="5815584"/>
            <a:ext cx="960120" cy="9601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284464" y="5724144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229600" y="5650992"/>
            <a:ext cx="1188720" cy="11887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701784" y="588873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646919" y="5815584"/>
            <a:ext cx="1417320" cy="14173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119104" y="5724144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064240" y="5650992"/>
            <a:ext cx="960120" cy="9601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016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0F9090"/>
                </a:solidFill>
                <a:latin typeface="Arial"/>
                <a:ea typeface="Arial"/>
              </a:rPr>
              <a:t>SECTION 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794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游ゴシック"/>
                <a:ea typeface="游ゴシック"/>
              </a:rPr>
              <a:t>課題と提案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17320" y="4800600"/>
            <a:ext cx="1463040" cy="45720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17320" y="5029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0DE"/>
                </a:solidFill>
                <a:latin typeface="游ゴシック"/>
                <a:ea typeface="游ゴシック"/>
              </a:rPr>
              <a:t>現状の何を、どう変えるのか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提案の3本柱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7"/>
                </a:solidFill>
                <a:latin typeface="游ゴシック"/>
                <a:ea typeface="游ゴシック"/>
              </a:rPr>
              <a:t>強みを3つに絞ると刺さる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291" y="2011680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54864" dist="36576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291" y="2011680"/>
            <a:ext cx="3520440" cy="82296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7583" y="2423160"/>
            <a:ext cx="1133856" cy="1133856"/>
          </a:xfrm>
          <a:prstGeom prst="ellipse">
            <a:avLst/>
          </a:prstGeom>
          <a:solidFill>
            <a:srgbClr val="E7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35327" y="2660904"/>
            <a:ext cx="658368" cy="658368"/>
          </a:xfrm>
          <a:prstGeom prst="ellipse">
            <a:avLst/>
          </a:prstGeom>
          <a:noFill/>
          <a:ln w="30480">
            <a:solidFill>
              <a:srgbClr val="10A2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80168" y="2805744"/>
            <a:ext cx="368686" cy="368686"/>
          </a:xfrm>
          <a:prstGeom prst="ellipse">
            <a:avLst/>
          </a:prstGeom>
          <a:noFill/>
          <a:ln w="30480">
            <a:solidFill>
              <a:srgbClr val="10A2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11842" y="2937418"/>
            <a:ext cx="105338" cy="105338"/>
          </a:xfrm>
          <a:prstGeom prst="ellipse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8611" y="3794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B1E27"/>
                </a:solidFill>
                <a:latin typeface="游ゴシック"/>
                <a:ea typeface="游ゴシック"/>
              </a:rPr>
              <a:t>狙いを定める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051" y="434340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誰の何を解決するかを1行で言い切る。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5627" y="2011680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54864" dist="36576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5627" y="2011680"/>
            <a:ext cx="3520440" cy="82296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28919" y="2423160"/>
            <a:ext cx="1133856" cy="1133856"/>
          </a:xfrm>
          <a:prstGeom prst="ellipse">
            <a:avLst/>
          </a:prstGeom>
          <a:solidFill>
            <a:srgbClr val="E7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ear 6 18"/>
          <p:cNvSpPr/>
          <p:nvPr/>
        </p:nvSpPr>
        <p:spPr>
          <a:xfrm>
            <a:off x="5766663" y="2660904"/>
            <a:ext cx="658368" cy="658368"/>
          </a:xfrm>
          <a:prstGeom prst="gear6">
            <a:avLst/>
          </a:prstGeom>
          <a:noFill/>
          <a:ln w="30480">
            <a:solidFill>
              <a:srgbClr val="10A2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90508" y="2884749"/>
            <a:ext cx="210677" cy="210677"/>
          </a:xfrm>
          <a:prstGeom prst="ellipse">
            <a:avLst/>
          </a:prstGeom>
          <a:noFill/>
          <a:ln w="30480">
            <a:solidFill>
              <a:srgbClr val="10A2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9947" y="3794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B1E27"/>
                </a:solidFill>
                <a:latin typeface="游ゴシック"/>
                <a:ea typeface="游ゴシック"/>
              </a:rPr>
              <a:t>仕組みで回す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1387" y="434340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属人でなく再現可能な型に落とす。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6963" y="2011680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54864" dist="36576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66963" y="2011680"/>
            <a:ext cx="3520440" cy="82296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60255" y="2423160"/>
            <a:ext cx="1133856" cy="1133856"/>
          </a:xfrm>
          <a:prstGeom prst="ellipse">
            <a:avLst/>
          </a:prstGeom>
          <a:solidFill>
            <a:srgbClr val="E7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9677003" y="2858414"/>
            <a:ext cx="223845" cy="263347"/>
          </a:xfrm>
          <a:prstGeom prst="triangle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9900848" y="2858414"/>
            <a:ext cx="223845" cy="263347"/>
          </a:xfrm>
          <a:prstGeom prst="triangle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1283" y="3794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B1E27"/>
                </a:solidFill>
                <a:latin typeface="游ゴシック"/>
                <a:ea typeface="游ゴシック"/>
              </a:rPr>
              <a:t>自走させる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2723" y="434340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運用を自動化し手離れさせる。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導入で得られること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7"/>
                </a:solidFill>
                <a:latin typeface="游ゴシック"/>
                <a:ea typeface="游ゴシック"/>
              </a:rPr>
              <a:t>定性でなく、変化を具体に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874519"/>
            <a:ext cx="868680" cy="868680"/>
          </a:xfrm>
          <a:prstGeom prst="ellipse">
            <a:avLst/>
          </a:prstGeom>
          <a:solidFill>
            <a:srgbClr val="F1F2F4"/>
          </a:solidFill>
          <a:ln w="12700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4108" y="2052828"/>
            <a:ext cx="512064" cy="512064"/>
          </a:xfrm>
          <a:prstGeom prst="ellipse">
            <a:avLst/>
          </a:prstGeom>
          <a:noFill/>
          <a:ln w="29209">
            <a:solidFill>
              <a:srgbClr val="10A2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1120140" y="2168042"/>
            <a:ext cx="0" cy="140818"/>
          </a:xfrm>
          <a:prstGeom prst="line">
            <a:avLst/>
          </a:prstGeom>
          <a:ln w="29209">
            <a:solidFill>
              <a:srgbClr val="10A2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20140" y="2308860"/>
            <a:ext cx="107533" cy="12801"/>
          </a:xfrm>
          <a:prstGeom prst="line">
            <a:avLst/>
          </a:prstGeom>
          <a:ln w="29209">
            <a:solidFill>
              <a:srgbClr val="10A2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74519" y="1920239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35000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月◯時間の手作業をゼロに。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63239"/>
            <a:ext cx="868680" cy="868680"/>
          </a:xfrm>
          <a:prstGeom prst="ellipse">
            <a:avLst/>
          </a:prstGeom>
          <a:solidFill>
            <a:srgbClr val="F1F2F4"/>
          </a:solidFill>
          <a:ln w="12700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94831" y="3722888"/>
            <a:ext cx="450617" cy="0"/>
          </a:xfrm>
          <a:prstGeom prst="line">
            <a:avLst/>
          </a:prstGeom>
          <a:ln w="29209">
            <a:solidFill>
              <a:srgbClr val="10A2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35796" y="3538545"/>
            <a:ext cx="81930" cy="184343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9174" y="3415649"/>
            <a:ext cx="81930" cy="307238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22552" y="3313236"/>
            <a:ext cx="81930" cy="409651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108959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538727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指標を◯%改善。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251960"/>
            <a:ext cx="868680" cy="868680"/>
          </a:xfrm>
          <a:prstGeom prst="ellipse">
            <a:avLst/>
          </a:prstGeom>
          <a:solidFill>
            <a:srgbClr val="F1F2F4"/>
          </a:solidFill>
          <a:ln w="12700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nut 21"/>
          <p:cNvSpPr/>
          <p:nvPr/>
        </p:nvSpPr>
        <p:spPr>
          <a:xfrm>
            <a:off x="864108" y="4430268"/>
            <a:ext cx="512064" cy="512064"/>
          </a:xfrm>
          <a:prstGeom prst="donut">
            <a:avLst/>
          </a:prstGeom>
          <a:noFill/>
          <a:ln w="29209">
            <a:solidFill>
              <a:srgbClr val="10A2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007485" y="4696541"/>
            <a:ext cx="92172" cy="92171"/>
          </a:xfrm>
          <a:prstGeom prst="line">
            <a:avLst/>
          </a:prstGeom>
          <a:ln w="29209">
            <a:solidFill>
              <a:srgbClr val="10A2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99657" y="4594128"/>
            <a:ext cx="153619" cy="194584"/>
          </a:xfrm>
          <a:prstGeom prst="line">
            <a:avLst/>
          </a:prstGeom>
          <a:ln w="29209">
            <a:solidFill>
              <a:srgbClr val="10A2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74519" y="42976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品質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72744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ばらつきを標準化。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Before / After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7"/>
                </a:solidFill>
                <a:latin typeface="游ゴシック"/>
                <a:ea typeface="游ゴシック"/>
              </a:rPr>
              <a:t>変化を一目で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831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02836"/>
                <a:gridCol w="4402836"/>
              </a:tblGrid>
              <a:tr h="1005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観点</a:t>
                      </a:r>
                    </a:p>
                  </a:txBody>
                  <a:tcPr marL="164592" anchor="ctr"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現状(Before)</a:t>
                      </a:r>
                    </a:p>
                  </a:txBody>
                  <a:tcPr marL="164592" anchor="ctr"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導入後(After)</a:t>
                      </a:r>
                    </a:p>
                  </a:txBody>
                  <a:tcPr marL="164592" anchor="ctr">
                    <a:solidFill>
                      <a:srgbClr val="10A2A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472"/>
                          </a:solidFill>
                          <a:latin typeface="游ゴシック"/>
                          <a:ea typeface="游ゴシック"/>
                        </a:rPr>
                        <a:t>工数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E27"/>
                          </a:solidFill>
                          <a:latin typeface="游ゴシック"/>
                          <a:ea typeface="游ゴシック"/>
                        </a:rPr>
                        <a:t>手作業で属人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1E27"/>
                          </a:solidFill>
                          <a:latin typeface="游ゴシック"/>
                          <a:ea typeface="游ゴシック"/>
                        </a:rPr>
                        <a:t>自動で標準化</a:t>
                      </a:r>
                    </a:p>
                  </a:txBody>
                  <a:tcPr marL="164592" anchor="ctr">
                    <a:solidFill>
                      <a:srgbClr val="E7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472"/>
                          </a:solidFill>
                          <a:latin typeface="游ゴシック"/>
                          <a:ea typeface="游ゴシック"/>
                        </a:rPr>
                        <a:t>速度</a:t>
                      </a:r>
                    </a:p>
                  </a:txBody>
                  <a:tcPr marL="164592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E27"/>
                          </a:solidFill>
                          <a:latin typeface="游ゴシック"/>
                          <a:ea typeface="游ゴシック"/>
                        </a:rPr>
                        <a:t>数日</a:t>
                      </a:r>
                    </a:p>
                  </a:txBody>
                  <a:tcPr marL="164592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1E27"/>
                          </a:solidFill>
                          <a:latin typeface="游ゴシック"/>
                          <a:ea typeface="游ゴシック"/>
                        </a:rPr>
                        <a:t>即時</a:t>
                      </a:r>
                    </a:p>
                  </a:txBody>
                  <a:tcPr marL="164592" anchor="ctr">
                    <a:solidFill>
                      <a:srgbClr val="E7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472"/>
                          </a:solidFill>
                          <a:latin typeface="游ゴシック"/>
                          <a:ea typeface="游ゴシック"/>
                        </a:rPr>
                        <a:t>コスト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E27"/>
                          </a:solidFill>
                          <a:latin typeface="游ゴシック"/>
                          <a:ea typeface="游ゴシック"/>
                        </a:rPr>
                        <a:t>高止まり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1E27"/>
                          </a:solidFill>
                          <a:latin typeface="游ゴシック"/>
                          <a:ea typeface="游ゴシック"/>
                        </a:rPr>
                        <a:t>逓減</a:t>
                      </a:r>
                    </a:p>
                  </a:txBody>
                  <a:tcPr marL="164592" anchor="ctr">
                    <a:solidFill>
                      <a:srgbClr val="E7F5F5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2つのアプローチ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7"/>
                </a:solidFill>
                <a:latin typeface="游ゴシック"/>
                <a:ea typeface="游ゴシック"/>
              </a:rPr>
              <a:t>どちらを選ぶか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9904" y="2011680"/>
            <a:ext cx="0" cy="3749040"/>
          </a:xfrm>
          <a:prstGeom prst="line">
            <a:avLst/>
          </a:prstGeom>
          <a:ln w="1524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243584" y="2898648"/>
            <a:ext cx="274320" cy="274320"/>
          </a:xfrm>
          <a:prstGeom prst="ellipse">
            <a:avLst/>
          </a:prstGeom>
          <a:noFill/>
          <a:ln w="27940">
            <a:solidFill>
              <a:srgbClr val="1B1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ock Arc 9"/>
          <p:cNvSpPr/>
          <p:nvPr/>
        </p:nvSpPr>
        <p:spPr>
          <a:xfrm>
            <a:off x="1152144" y="3209544"/>
            <a:ext cx="457200" cy="457200"/>
          </a:xfrm>
          <a:prstGeom prst="blockArc">
            <a:avLst/>
          </a:prstGeom>
          <a:noFill/>
          <a:ln w="27940">
            <a:solidFill>
              <a:srgbClr val="1B1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91055" y="2898648"/>
            <a:ext cx="274320" cy="274320"/>
          </a:xfrm>
          <a:prstGeom prst="ellipse">
            <a:avLst/>
          </a:prstGeom>
          <a:noFill/>
          <a:ln w="27940">
            <a:solidFill>
              <a:srgbClr val="1B1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1499616" y="3209544"/>
            <a:ext cx="457200" cy="457200"/>
          </a:xfrm>
          <a:prstGeom prst="blockArc">
            <a:avLst/>
          </a:prstGeom>
          <a:noFill/>
          <a:ln w="27940">
            <a:solidFill>
              <a:srgbClr val="1B1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286000" y="3108960"/>
            <a:ext cx="640080" cy="292608"/>
          </a:xfrm>
          <a:prstGeom prst="rightArrow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1800" y="2148840"/>
            <a:ext cx="2834640" cy="2194560"/>
          </a:xfrm>
          <a:prstGeom prst="ellipse">
            <a:avLst/>
          </a:prstGeom>
          <a:solidFill>
            <a:srgbClr val="5B6472"/>
          </a:solidFill>
          <a:ln>
            <a:noFill/>
          </a:ln>
          <a:effectLst>
            <a:outerShdw blurRad="54864" dist="36576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従来型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4617720"/>
            <a:ext cx="4114800" cy="1143000"/>
          </a:xfrm>
          <a:prstGeom prst="roundRect">
            <a:avLst/>
          </a:prstGeom>
          <a:solidFill>
            <a:srgbClr val="F1F2F4"/>
          </a:solidFill>
          <a:ln w="12700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75488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1E27"/>
                </a:solidFill>
                <a:latin typeface="游ゴシック"/>
                <a:ea typeface="游ゴシック"/>
              </a:rPr>
              <a:t>・人手・都度対応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06577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1E27"/>
                </a:solidFill>
                <a:latin typeface="游ゴシック"/>
                <a:ea typeface="游ゴシック"/>
              </a:rPr>
              <a:t>・再現性が低い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37667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1E27"/>
                </a:solidFill>
                <a:latin typeface="游ゴシック"/>
                <a:ea typeface="游ゴシック"/>
              </a:rPr>
              <a:t>・スケールしない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42631" y="2843784"/>
            <a:ext cx="0" cy="128016"/>
          </a:xfrm>
          <a:prstGeom prst="line">
            <a:avLst/>
          </a:prstGeom>
          <a:ln w="27940">
            <a:solidFill>
              <a:srgbClr val="1B1E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296912" y="2788920"/>
            <a:ext cx="91440" cy="91440"/>
          </a:xfrm>
          <a:prstGeom prst="ellipse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13447" y="2971800"/>
            <a:ext cx="658368" cy="548640"/>
          </a:xfrm>
          <a:prstGeom prst="roundRect">
            <a:avLst/>
          </a:prstGeom>
          <a:noFill/>
          <a:ln w="27940">
            <a:solidFill>
              <a:srgbClr val="1B1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78040" y="3154679"/>
            <a:ext cx="91440" cy="109728"/>
          </a:xfrm>
          <a:prstGeom prst="ellipse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15783" y="3154679"/>
            <a:ext cx="91440" cy="109728"/>
          </a:xfrm>
          <a:prstGeom prst="ellipse">
            <a:avLst/>
          </a:prstGeom>
          <a:solidFill>
            <a:srgbClr val="1B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59751" y="3520439"/>
            <a:ext cx="365760" cy="146304"/>
          </a:xfrm>
          <a:prstGeom prst="roundRect">
            <a:avLst/>
          </a:prstGeom>
          <a:noFill/>
          <a:ln w="27940">
            <a:solidFill>
              <a:srgbClr val="1B1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074152" y="3108960"/>
            <a:ext cx="640080" cy="292608"/>
          </a:xfrm>
          <a:prstGeom prst="rightArrow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2148840"/>
            <a:ext cx="2834640" cy="2194560"/>
          </a:xfrm>
          <a:prstGeom prst="ellipse">
            <a:avLst/>
          </a:prstGeom>
          <a:solidFill>
            <a:srgbClr val="10A2A2"/>
          </a:solidFill>
          <a:ln>
            <a:noFill/>
          </a:ln>
          <a:effectLst>
            <a:outerShdw blurRad="54864" dist="36576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</a:rPr>
              <a:t>AI活用型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6912" y="4617720"/>
            <a:ext cx="4114800" cy="1143000"/>
          </a:xfrm>
          <a:prstGeom prst="roundRect">
            <a:avLst/>
          </a:prstGeom>
          <a:solidFill>
            <a:srgbClr val="F1F2F4"/>
          </a:solidFill>
          <a:ln w="12700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75488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1E27"/>
                </a:solidFill>
                <a:latin typeface="游ゴシック"/>
                <a:ea typeface="游ゴシック"/>
              </a:rPr>
              <a:t>・自動で一貫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506577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1E27"/>
                </a:solidFill>
                <a:latin typeface="游ゴシック"/>
                <a:ea typeface="游ゴシック"/>
              </a:rPr>
              <a:t>・標準化される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537667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1B1E27"/>
                </a:solidFill>
                <a:latin typeface="游ゴシック"/>
                <a:ea typeface="游ゴシック"/>
              </a:rPr>
              <a:t>・スケールする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想定インパクト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7"/>
                </a:solidFill>
                <a:latin typeface="游ゴシック"/>
                <a:ea typeface="游ゴシック"/>
              </a:rPr>
              <a:t>数字で語る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5327" y="237744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54864" dist="36576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35327" y="2377440"/>
            <a:ext cx="2560320" cy="82296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8207" y="283464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0A2A2"/>
                </a:solidFill>
                <a:latin typeface="Arial"/>
                <a:ea typeface="Arial"/>
              </a:rP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8207" y="397763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工数削減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15687" y="237744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54864" dist="36576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15687" y="2377440"/>
            <a:ext cx="2560320" cy="82296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8567" y="283464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0A2A2"/>
                </a:solidFill>
                <a:latin typeface="Arial"/>
                <a:ea typeface="Arial"/>
              </a:rP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567" y="397763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処理速度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6047" y="237744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54864" dist="36576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2377440"/>
            <a:ext cx="2560320" cy="82296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83464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0A2A2"/>
                </a:solidFill>
                <a:latin typeface="Arial"/>
                <a:ea typeface="Arial"/>
              </a:rPr>
              <a:t>¥0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397763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6472"/>
                </a:solidFill>
                <a:latin typeface="游ゴシック"/>
                <a:ea typeface="游ゴシック"/>
              </a:rPr>
              <a:t>追加人員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最重要指標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7"/>
                </a:solidFill>
                <a:latin typeface="游ゴシック"/>
                <a:ea typeface="游ゴシック"/>
              </a:rPr>
              <a:t>一番伝えたい数字を大きく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0" b="1">
                <a:solidFill>
                  <a:srgbClr val="10A2A2"/>
                </a:solidFill>
                <a:latin typeface="Arial"/>
                <a:ea typeface="Arial"/>
              </a:rPr>
              <a:t>月40時間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B1E27"/>
                </a:solidFill>
                <a:latin typeface="游ゴシック"/>
                <a:ea typeface="游ゴシック"/>
              </a:rPr>
              <a:t>削減される手作業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5B6472"/>
                </a:solidFill>
                <a:latin typeface="游ゴシック"/>
                <a:ea typeface="游ゴシック"/>
              </a:rPr>
              <a:t>※3ヶ月の実測平均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導入ロードマップ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7"/>
                </a:solidFill>
                <a:latin typeface="游ゴシック"/>
                <a:ea typeface="游ゴシック"/>
              </a:rPr>
              <a:t>小さく始めて広げる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383280"/>
            <a:ext cx="10332720" cy="0"/>
          </a:xfrm>
          <a:prstGeom prst="line">
            <a:avLst/>
          </a:prstGeom>
          <a:ln w="2540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81072" y="3227832"/>
            <a:ext cx="310896" cy="310896"/>
          </a:xfrm>
          <a:prstGeom prst="ellipse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1072" y="326440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307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0A2A2"/>
                </a:solidFill>
                <a:latin typeface="游ゴシック"/>
                <a:ea typeface="游ゴシック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307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307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>
                <a:solidFill>
                  <a:srgbClr val="5B6472"/>
                </a:solidFill>
                <a:latin typeface="游ゴシック"/>
                <a:ea typeface="游ゴシック"/>
              </a:rPr>
              <a:t>小さく試す</a:t>
            </a:r>
          </a:p>
        </p:txBody>
      </p:sp>
      <p:sp>
        <p:nvSpPr>
          <p:cNvPr id="14" name="Oval 13"/>
          <p:cNvSpPr/>
          <p:nvPr/>
        </p:nvSpPr>
        <p:spPr>
          <a:xfrm>
            <a:off x="5925312" y="3227832"/>
            <a:ext cx="310896" cy="310896"/>
          </a:xfrm>
          <a:prstGeom prst="ellipse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326440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520" y="2331720"/>
            <a:ext cx="307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0A2A2"/>
                </a:solidFill>
                <a:latin typeface="游ゴシック"/>
                <a:ea typeface="游ゴシック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2697480"/>
            <a:ext cx="307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定着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520" y="3703320"/>
            <a:ext cx="307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>
                <a:solidFill>
                  <a:srgbClr val="5B6472"/>
                </a:solidFill>
                <a:latin typeface="游ゴシック"/>
                <a:ea typeface="游ゴシック"/>
              </a:rPr>
              <a:t>型に落とす</a:t>
            </a:r>
          </a:p>
        </p:txBody>
      </p:sp>
      <p:sp>
        <p:nvSpPr>
          <p:cNvPr id="19" name="Oval 18"/>
          <p:cNvSpPr/>
          <p:nvPr/>
        </p:nvSpPr>
        <p:spPr>
          <a:xfrm>
            <a:off x="9369552" y="3227832"/>
            <a:ext cx="310896" cy="310896"/>
          </a:xfrm>
          <a:prstGeom prst="ellipse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9552" y="326440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5760" y="2331720"/>
            <a:ext cx="307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0A2A2"/>
                </a:solidFill>
                <a:latin typeface="游ゴシック"/>
                <a:ea typeface="游ゴシック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5760" y="2697480"/>
            <a:ext cx="307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1E27"/>
                </a:solidFill>
                <a:latin typeface="游ゴシック"/>
                <a:ea typeface="游ゴシック"/>
              </a:rPr>
              <a:t>自走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5760" y="3703320"/>
            <a:ext cx="307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>
                <a:solidFill>
                  <a:srgbClr val="5B6472"/>
                </a:solidFill>
                <a:latin typeface="游ゴシック"/>
                <a:ea typeface="游ゴシック"/>
              </a:rPr>
              <a:t>自動で回す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19456" y="-201167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-274320"/>
            <a:ext cx="960120" cy="9601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97864" y="-36575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-109728"/>
            <a:ext cx="1188720" cy="11887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15184" y="-201167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-274320"/>
            <a:ext cx="1417320" cy="14173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32504" y="-36575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40" y="-109728"/>
            <a:ext cx="960120" cy="9601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49824" y="-201167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-274320"/>
            <a:ext cx="1188720" cy="11887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67144" y="-36575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12280" y="-109728"/>
            <a:ext cx="1417320" cy="14173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-201167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-274320"/>
            <a:ext cx="960120" cy="9601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01784" y="-36575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919" y="-109728"/>
            <a:ext cx="1188720" cy="11887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19104" y="-201167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64240" y="-274320"/>
            <a:ext cx="1417320" cy="14173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" y="128016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-45719" y="1207008"/>
            <a:ext cx="1188720" cy="11887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426464" y="1444752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1371600"/>
            <a:ext cx="1417320" cy="14173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43784" y="128016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8920" y="1207008"/>
            <a:ext cx="960120" cy="9601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61104" y="1444752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1371600"/>
            <a:ext cx="1188720" cy="11887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78424" y="1280160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23560" y="1207008"/>
            <a:ext cx="1417320" cy="14173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95744" y="1444752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40880" y="1371600"/>
            <a:ext cx="960120" cy="9601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13064" y="128016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58200" y="1207008"/>
            <a:ext cx="1188720" cy="11887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30384" y="1444752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75519" y="1371600"/>
            <a:ext cx="1417320" cy="14173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347704" y="128016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292840" y="1207008"/>
            <a:ext cx="960120" cy="9601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-219456" y="276148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-274320" y="2688336"/>
            <a:ext cx="1417320" cy="14173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97864" y="292608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43000" y="2852928"/>
            <a:ext cx="960120" cy="9601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615184" y="276148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560320" y="2688336"/>
            <a:ext cx="1188720" cy="11887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032504" y="2926080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977640" y="2852928"/>
            <a:ext cx="1417320" cy="14173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49824" y="2761488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94960" y="2688336"/>
            <a:ext cx="960120" cy="9601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67144" y="2926080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12280" y="2852928"/>
            <a:ext cx="1188720" cy="11887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84464" y="276148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0" y="2688336"/>
            <a:ext cx="1417320" cy="14173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701784" y="2926080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46919" y="2852928"/>
            <a:ext cx="960120" cy="9601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119104" y="276148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1064240" y="2688336"/>
            <a:ext cx="1188720" cy="11887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" y="424281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-45719" y="4169664"/>
            <a:ext cx="960120" cy="9601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426464" y="440740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371600" y="4334256"/>
            <a:ext cx="1188720" cy="11887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843784" y="424281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788920" y="4169664"/>
            <a:ext cx="1417320" cy="14173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261104" y="4407408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206240" y="4334256"/>
            <a:ext cx="960120" cy="9601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678424" y="4242816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623560" y="4169664"/>
            <a:ext cx="1188720" cy="11887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95744" y="4407408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040880" y="4334256"/>
            <a:ext cx="1417320" cy="14173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513064" y="424281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58200" y="4169664"/>
            <a:ext cx="960120" cy="9601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30384" y="4407408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875519" y="4334256"/>
            <a:ext cx="1188720" cy="11887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1347704" y="424281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292840" y="4169664"/>
            <a:ext cx="1417320" cy="14173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-219456" y="5724144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-274320" y="5650992"/>
            <a:ext cx="1188720" cy="1188720"/>
          </a:xfrm>
          <a:prstGeom prst="roundRect">
            <a:avLst/>
          </a:prstGeom>
          <a:solidFill>
            <a:srgbClr val="212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197864" y="588873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143000" y="5815584"/>
            <a:ext cx="1417320" cy="1417320"/>
          </a:xfrm>
          <a:prstGeom prst="roundRect">
            <a:avLst/>
          </a:prstGeom>
          <a:solidFill>
            <a:srgbClr val="20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615184" y="5724144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560320" y="5650992"/>
            <a:ext cx="960120" cy="960120"/>
          </a:xfrm>
          <a:prstGeom prst="roundRect">
            <a:avLst/>
          </a:prstGeom>
          <a:solidFill>
            <a:srgbClr val="1D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032504" y="5888736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977640" y="5815584"/>
            <a:ext cx="1188720" cy="1188720"/>
          </a:xfrm>
          <a:prstGeom prst="roundRect">
            <a:avLst/>
          </a:prstGeom>
          <a:solidFill>
            <a:srgbClr val="1B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49824" y="5724144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394960" y="5650992"/>
            <a:ext cx="1417320" cy="1417320"/>
          </a:xfrm>
          <a:prstGeom prst="roundRect">
            <a:avLst/>
          </a:prstGeom>
          <a:solidFill>
            <a:srgbClr val="24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867144" y="5888736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812280" y="5815584"/>
            <a:ext cx="960120" cy="960120"/>
          </a:xfrm>
          <a:prstGeom prst="roundRect">
            <a:avLst/>
          </a:prstGeom>
          <a:solidFill>
            <a:srgbClr val="22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284464" y="5724144"/>
            <a:ext cx="1188720" cy="11887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229600" y="5650992"/>
            <a:ext cx="1188720" cy="1188720"/>
          </a:xfrm>
          <a:prstGeom prst="roundRect">
            <a:avLst/>
          </a:prstGeom>
          <a:solidFill>
            <a:srgbClr val="1F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701784" y="5888736"/>
            <a:ext cx="1417320" cy="14173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646919" y="5815584"/>
            <a:ext cx="1417320" cy="1417320"/>
          </a:xfrm>
          <a:prstGeom prst="roundRect">
            <a:avLst/>
          </a:prstGeom>
          <a:solidFill>
            <a:srgbClr val="1E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119104" y="5724144"/>
            <a:ext cx="960120" cy="960120"/>
          </a:xfrm>
          <a:prstGeom prst="roundRect">
            <a:avLst/>
          </a:prstGeom>
          <a:solidFill>
            <a:srgbClr val="0E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064240" y="5650992"/>
            <a:ext cx="960120" cy="960120"/>
          </a:xfrm>
          <a:prstGeom prst="roundRect">
            <a:avLst/>
          </a:prstGeom>
          <a:solidFill>
            <a:srgbClr val="263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016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0F9090"/>
                </a:solidFill>
                <a:latin typeface="Arial"/>
                <a:ea typeface="Arial"/>
              </a:rPr>
              <a:t>SECTION 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794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游ゴシック"/>
                <a:ea typeface="游ゴシック"/>
              </a:rPr>
              <a:t>まとめ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17320" y="4800600"/>
            <a:ext cx="1463040" cy="45720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17320" y="5029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0DE"/>
                </a:solidFill>
                <a:latin typeface="游ゴシック"/>
                <a:ea typeface="游ゴシック"/>
              </a:rPr>
              <a:t>次の一歩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02920" y="365760"/>
            <a:ext cx="146304" cy="274320"/>
          </a:xfrm>
          <a:prstGeom prst="parallelogram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31667" y="365760"/>
            <a:ext cx="146304" cy="274320"/>
          </a:xfrm>
          <a:prstGeom prst="parallelogram">
            <a:avLst/>
          </a:prstGeom>
          <a:solidFill>
            <a:srgbClr val="6F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1E27"/>
                </a:solidFill>
                <a:latin typeface="游ゴシック"/>
                <a:ea typeface="游ゴシック"/>
              </a:rPr>
              <a:t>クロージング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96112"/>
            <a:ext cx="11183112" cy="0"/>
          </a:xfrm>
          <a:prstGeom prst="line">
            <a:avLst/>
          </a:prstGeom>
          <a:ln w="1778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5544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57BDBD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>
                <a:solidFill>
                  <a:srgbClr val="1B1E27"/>
                </a:solidFill>
                <a:latin typeface="游ゴシック"/>
                <a:ea typeface="游ゴシック"/>
              </a:rPr>
              <a:t>「AIで、事業を回す。」</a:t>
            </a:r>
          </a:p>
          <a:p>
            <a:pPr algn="l">
              <a:lnSpc>
                <a:spcPct val="140000"/>
              </a:lnSpc>
            </a:pPr>
            <a:r>
              <a:rPr sz="2800" b="0">
                <a:solidFill>
                  <a:srgbClr val="1B1E27"/>
                </a:solidFill>
                <a:latin typeface="游ゴシック"/>
                <a:ea typeface="游ゴシック"/>
              </a:rPr>
              <a:t>差し替えるだけで、明日の提案が整う。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5029200"/>
            <a:ext cx="548640" cy="45720"/>
          </a:xfrm>
          <a:prstGeom prst="rect">
            <a:avLst/>
          </a:prstGeom>
          <a:solidFill>
            <a:srgbClr val="10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4956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B6472"/>
                </a:solidFill>
                <a:latin typeface="游ゴシック"/>
                <a:ea typeface="游ゴシック"/>
              </a:rPr>
              <a:t>— Premium Deck Template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400800"/>
            <a:ext cx="11183112" cy="0"/>
          </a:xfrm>
          <a:prstGeom prst="line">
            <a:avLst/>
          </a:prstGeom>
          <a:ln w="13970">
            <a:solidFill>
              <a:srgbClr val="DC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2"/>
                </a:solidFill>
                <a:latin typeface="游ゴシック"/>
                <a:ea typeface="游ゴシック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